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sq ft</c:v>
                </c:pt>
              </c:strCache>
            </c:strRef>
          </c:tx>
          <c:spPr>
            <a:solidFill>
              <a:srgbClr val="4C5B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419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C5B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A06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Seattle (35% cap)</c:v>
                  </c:pt>
                  <c:pt idx="1">
                    <c:v>Bellevue (40% cap)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2247</c:v>
                </c:pt>
                <c:pt idx="1">
                  <c:v>2568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419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389120" cy="4389120"/>
          </a:xfrm>
          <a:prstGeom prst="ellipse">
            <a:avLst/>
          </a:prstGeom>
          <a:solidFill>
            <a:srgbClr val="232A5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474720" cy="3474720"/>
          </a:xfrm>
          <a:prstGeom prst="ellipse">
            <a:avLst/>
          </a:prstGeom>
          <a:solidFill>
            <a:srgbClr val="232A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DETERMINISTIC JUDGE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Z3 Verifier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Formal, provable constraint checking for the house-design pipeline.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4754880" cy="566928"/>
          </a:xfrm>
          <a:prstGeom prst="roundRect">
            <a:avLst>
              <a:gd name="adj" fmla="val 50000"/>
            </a:avLst>
          </a:prstGeom>
          <a:solidFill>
            <a:srgbClr val="232A57"/>
          </a:solidFill>
          <a:ln w="15875">
            <a:solidFill>
              <a:srgbClr val="4C5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319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  →  prove  →  pass / fail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217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Ojas  ·  AI Gurukul  ·  PS-II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judge that makes the pipeline trustworthy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32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LLM proposes a layout. Z3 </a:t>
            </a:r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4C5B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proves</a:t>
            </a:r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32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 legal — or rejects it with exact reasons.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232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input, same verdict, every time.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483864" cy="2240280"/>
          </a:xfrm>
          <a:prstGeom prst="roundRect">
            <a:avLst>
              <a:gd name="adj" fmla="val 3673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971800"/>
            <a:ext cx="566928" cy="566928"/>
          </a:xfrm>
          <a:prstGeom prst="ellipse">
            <a:avLst/>
          </a:prstGeom>
          <a:solidFill>
            <a:srgbClr val="4C5BD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36576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411480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probability — an SMT proof. The same layout always gets the same verdict.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2544" y="2697480"/>
            <a:ext cx="3483864" cy="2240280"/>
          </a:xfrm>
          <a:prstGeom prst="roundRect">
            <a:avLst>
              <a:gd name="adj" fmla="val 3673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971800"/>
            <a:ext cx="566928" cy="566928"/>
          </a:xfrm>
          <a:prstGeom prst="ellipse">
            <a:avLst/>
          </a:prstGeom>
          <a:solidFill>
            <a:srgbClr val="1AA06D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Provable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45152" y="411480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is checked by Z3 with a measured-vs-required number, never a guess.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56448" y="2697480"/>
            <a:ext cx="3483864" cy="2240280"/>
          </a:xfrm>
          <a:prstGeom prst="roundRect">
            <a:avLst>
              <a:gd name="adj" fmla="val 3673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49056" y="2971800"/>
            <a:ext cx="566928" cy="566928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17" name="Text 15"/>
          <p:cNvSpPr/>
          <p:nvPr/>
        </p:nvSpPr>
        <p:spPr>
          <a:xfrm>
            <a:off x="844905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49056" y="36576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49056" y="411480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Gemini ↔ Groq ↔ a human — the judge never changes, so the loop stays honest.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C5B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~0.01 s</a:t>
            </a:r>
            <a:pPr algn="l" indent="0" marL="0">
              <a:buNone/>
            </a:pPr>
            <a:r>
              <a:rPr lang="en-US" sz="14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per check  ·  budget is 5 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Verifier  ·  Ojas  ·  House-design pipeline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gates in the pipeline — it drives both retry loops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15875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254203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Plan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3504" y="294436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 footprint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237744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4193C"/>
          </a:solidFill>
          <a:ln w="15875">
            <a:solidFill>
              <a:srgbClr val="4C5BD4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9544" y="254203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Z3 VERIFIER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9544" y="294436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 · 13 rules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237744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15875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15584" y="254203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Floor Plan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15584" y="294436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rooms inside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66760" y="23774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4193C"/>
          </a:solidFill>
          <a:ln w="15875">
            <a:solidFill>
              <a:srgbClr val="4C5BD4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21624" y="254203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Z3 VERIFIER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21624" y="294436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· ~25 rules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52928" y="2903220"/>
            <a:ext cx="274320" cy="0"/>
          </a:xfrm>
          <a:prstGeom prst="line">
            <a:avLst/>
          </a:prstGeom>
          <a:noFill/>
          <a:ln w="31750">
            <a:solidFill>
              <a:srgbClr val="33409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58968" y="2903220"/>
            <a:ext cx="274320" cy="0"/>
          </a:xfrm>
          <a:prstGeom prst="line">
            <a:avLst/>
          </a:prstGeom>
          <a:noFill/>
          <a:ln w="31750">
            <a:solidFill>
              <a:srgbClr val="33409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65008" y="2903220"/>
            <a:ext cx="274320" cy="0"/>
          </a:xfrm>
          <a:prstGeom prst="line">
            <a:avLst/>
          </a:prstGeom>
          <a:noFill/>
          <a:ln w="31750">
            <a:solidFill>
              <a:srgbClr val="33409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762488" y="2903220"/>
            <a:ext cx="274320" cy="0"/>
          </a:xfrm>
          <a:prstGeom prst="line">
            <a:avLst/>
          </a:prstGeom>
          <a:noFill/>
          <a:ln w="31750">
            <a:solidFill>
              <a:srgbClr val="33409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1064240" y="237744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54680" y="3840480"/>
            <a:ext cx="2286000" cy="0"/>
          </a:xfrm>
          <a:prstGeom prst="line">
            <a:avLst/>
          </a:prstGeom>
          <a:noFill/>
          <a:ln w="25400">
            <a:solidFill>
              <a:srgbClr val="D6455D"/>
            </a:solidFill>
            <a:prstDash val="dash"/>
            <a:headEnd type="triangle"/>
          </a:ln>
        </p:spPr>
      </p:sp>
      <p:sp>
        <p:nvSpPr>
          <p:cNvPr id="22" name="Text 20"/>
          <p:cNvSpPr/>
          <p:nvPr/>
        </p:nvSpPr>
        <p:spPr>
          <a:xfrm>
            <a:off x="306324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retry on fail (capped)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66760" y="3840480"/>
            <a:ext cx="2286000" cy="0"/>
          </a:xfrm>
          <a:prstGeom prst="line">
            <a:avLst/>
          </a:prstGeom>
          <a:noFill/>
          <a:ln w="25400">
            <a:solidFill>
              <a:srgbClr val="D6455D"/>
            </a:solidFill>
            <a:prstDash val="dash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8275320" y="3931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retry on fail (capped)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E3E8F8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513892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4C5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Tool, not an agent.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generators call the verifier </a:t>
            </a:r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4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directly, in their own code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Agent Manager routes the step transition, not each check. A FAIL returns the reasons the generator retries on; a PASS releases the layout downstream.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Verifier  ·  Ojas  ·  House-design pipeline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&amp; OUTPUTS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flows in, what flows out — and who's on each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0" cy="4297680"/>
          </a:xfrm>
          <a:prstGeom prst="roundRect">
            <a:avLst>
              <a:gd name="adj" fmla="val 2143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47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 ·  coming from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46304" cy="146304"/>
          </a:xfrm>
          <a:prstGeom prst="ellipse">
            <a:avLst/>
          </a:prstGeom>
          <a:solidFill>
            <a:srgbClr val="4C5BD4"/>
          </a:solidFill>
          <a:ln/>
        </p:spPr>
      </p:sp>
      <p:sp>
        <p:nvSpPr>
          <p:cNvPr id="7" name="Text 5"/>
          <p:cNvSpPr/>
          <p:nvPr/>
        </p:nvSpPr>
        <p:spPr>
          <a:xfrm>
            <a:off x="1060704" y="2468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Engine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60704" y="27614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ruleset JSON — setbacks, room rules. Single source of truth.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675888"/>
            <a:ext cx="146304" cy="146304"/>
          </a:xfrm>
          <a:prstGeom prst="ellipse">
            <a:avLst/>
          </a:prstGeom>
          <a:solidFill>
            <a:srgbClr val="1AA06D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3630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Plan Generator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0704" y="392277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to check:  { corners, door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837176"/>
            <a:ext cx="146304" cy="146304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13" name="Text 11"/>
          <p:cNvSpPr/>
          <p:nvPr/>
        </p:nvSpPr>
        <p:spPr>
          <a:xfrm>
            <a:off x="1060704" y="4791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 Generator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60704" y="508406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to check (via the Json Extractor)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5138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Zoning feeds the Constraint Engine — not me directly.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92040" y="315468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14193C"/>
          </a:solidFill>
          <a:ln w="19050">
            <a:solidFill>
              <a:srgbClr val="4C5BD4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41071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83480" y="41788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EB8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verify_site · optimize_area · verify_interior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34840" y="3931920"/>
            <a:ext cx="868680" cy="0"/>
          </a:xfrm>
          <a:prstGeom prst="line">
            <a:avLst/>
          </a:prstGeom>
          <a:noFill/>
          <a:ln w="31750">
            <a:solidFill>
              <a:srgbClr val="33409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15200" y="3931920"/>
            <a:ext cx="777240" cy="0"/>
          </a:xfrm>
          <a:prstGeom prst="line">
            <a:avLst/>
          </a:prstGeom>
          <a:noFill/>
          <a:ln w="31750">
            <a:solidFill>
              <a:srgbClr val="33409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18120" y="1783080"/>
            <a:ext cx="3822192" cy="4297680"/>
          </a:xfrm>
          <a:prstGeom prst="roundRect">
            <a:avLst>
              <a:gd name="adj" fmla="val 2153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92440" y="1947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 ·  going to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92440" y="2487168"/>
            <a:ext cx="146304" cy="146304"/>
          </a:xfrm>
          <a:prstGeom prst="ellipse">
            <a:avLst/>
          </a:prstGeom>
          <a:solidFill>
            <a:srgbClr val="1AA06D"/>
          </a:solidFill>
          <a:ln/>
        </p:spPr>
      </p:sp>
      <p:sp>
        <p:nvSpPr>
          <p:cNvPr id="24" name="Text 22"/>
          <p:cNvSpPr/>
          <p:nvPr/>
        </p:nvSpPr>
        <p:spPr>
          <a:xfrm>
            <a:off x="8330184" y="24414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Plan Generator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0184" y="2715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buildable area (target ≥ 90%)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2440" y="3374136"/>
            <a:ext cx="146304" cy="146304"/>
          </a:xfrm>
          <a:prstGeom prst="ellipse">
            <a:avLst/>
          </a:prstGeom>
          <a:solidFill>
            <a:srgbClr val="1AA06D"/>
          </a:solidFill>
          <a:ln/>
        </p:spPr>
      </p:sp>
      <p:sp>
        <p:nvSpPr>
          <p:cNvPr id="27" name="Text 25"/>
          <p:cNvSpPr/>
          <p:nvPr/>
        </p:nvSpPr>
        <p:spPr>
          <a:xfrm>
            <a:off x="8330184" y="3328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 Generator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30184" y="36027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footprint  —  on PASS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2440" y="4261104"/>
            <a:ext cx="146304" cy="146304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30" name="Text 28"/>
          <p:cNvSpPr/>
          <p:nvPr/>
        </p:nvSpPr>
        <p:spPr>
          <a:xfrm>
            <a:off x="8330184" y="42153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(retry)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0184" y="44897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per-constraint reasons  —  on FAIL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92440" y="5148072"/>
            <a:ext cx="146304" cy="146304"/>
          </a:xfrm>
          <a:prstGeom prst="ellipse">
            <a:avLst/>
          </a:prstGeom>
          <a:solidFill>
            <a:srgbClr val="4C5BD4"/>
          </a:solidFill>
          <a:ln/>
        </p:spPr>
      </p:sp>
      <p:sp>
        <p:nvSpPr>
          <p:cNvPr id="33" name="Text 31"/>
          <p:cNvSpPr/>
          <p:nvPr/>
        </p:nvSpPr>
        <p:spPr>
          <a:xfrm>
            <a:off x="8330184" y="5102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+ Database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0184" y="5376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record for sign-off &amp; audit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Verifier  ·  Ojas  ·  House-design pipeline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in/out shapes — build against these, transport can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297680"/>
          </a:xfrm>
          <a:prstGeom prst="roundRect">
            <a:avLst>
              <a:gd name="adj" fmla="val 1489"/>
            </a:avLst>
          </a:prstGeom>
          <a:solidFill>
            <a:srgbClr val="14193C"/>
          </a:solidFill>
          <a:ln w="12700">
            <a:solidFill>
              <a:srgbClr val="33409C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E3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EXTERIOR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404872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 →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corners: [[x,y] × 4]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door:    [x, y]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city / ruleset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→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ok, n_failed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constraints: [{rule, pass,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measured, required, message}]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max_buildable_area_sqft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tolerance_ft, solve_time_s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99632" y="1783080"/>
            <a:ext cx="5440680" cy="4297680"/>
          </a:xfrm>
          <a:prstGeom prst="roundRect">
            <a:avLst>
              <a:gd name="adj" fmla="val 1489"/>
            </a:avLst>
          </a:prstGeom>
          <a:solidFill>
            <a:srgbClr val="14193C"/>
          </a:solidFill>
          <a:ln w="12700">
            <a:solidFill>
              <a:srgbClr val="33409C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3952" y="1965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C7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INTERIOR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73952" y="2404872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 →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footprint: [x, y, w, h]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door:      [x, y]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rooms: [[name, kind,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x_min, y_min, x_max, y_max]]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city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→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ok, n_failed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violations: [{rule, measured,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required, message}]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in feet · origin = plot SW corner · same frame the generators emit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Verifier  ·  Ojas  ·  House-design pipeline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CHECKS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site rules + ~25 interior rules — one Z3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EXTERIOR  ·  site / zoning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395728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95728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/ rear / side setbacks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2395728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2395728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Tree-buffer keep-out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871216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871216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width &amp; depth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2871216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2871216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egress &amp; placement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346704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346704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Corner-in-plot containment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3346704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3346704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utilization ≥ 90%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822192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AA0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822192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lot coverage ≤ 35%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9632" y="178308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73952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INTERIOR  ·  IRC room rules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73952" y="2395728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395728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min areas &amp; sides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79992" y="2395728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2395728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 / no drop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73952" y="2816352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816352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 · no gaps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79992" y="2816352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2816352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Ensuite bath ↔ bedroom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73952" y="3236976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236976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 ⊥ kitchen &amp; each other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79992" y="3236976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3236976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near entry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73952" y="3657600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AA0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65760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&gt; each bedroom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79992" y="3657600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AA06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98280" y="3657600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A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≤ 15% usable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73952" y="4078224"/>
            <a:ext cx="2514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3409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078224"/>
            <a:ext cx="2478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room connected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E9F7F0"/>
          </a:solidFill>
          <a:ln w="15875">
            <a:solidFill>
              <a:srgbClr val="1AA06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5212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A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added  </a:t>
            </a:r>
            <a:pPr indent="0" marL="0">
              <a:buNone/>
            </a:pPr>
            <a:r>
              <a:rPr lang="en-US" sz="1400" b="1" dirty="0">
                <a:solidFill>
                  <a:srgbClr val="141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lot coverage 35%   ·   living &gt; each bedroom   ·   corridor ≤ 15%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Verifier  ·  Ojas  ·  House-design pipeline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MODES · CITY-AGNOSTIC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Z3 code, different code-book per 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108960" cy="2057400"/>
          </a:xfrm>
          <a:prstGeom prst="roundRect">
            <a:avLst>
              <a:gd name="adj" fmla="val 4000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38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5B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most I can legally build here?”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provable max buildable area.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86200" y="1783080"/>
            <a:ext cx="3108960" cy="2057400"/>
          </a:xfrm>
          <a:prstGeom prst="roundRect">
            <a:avLst>
              <a:gd name="adj" fmla="val 4000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60520" y="1938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5B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60520" y="2377440"/>
            <a:ext cx="2606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exact layout legal?”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per-constraint PASS / FAIL with reasons.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8660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buildable area — same lot, different city JSON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086600" y="2148840"/>
          <a:ext cx="45262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41148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14193C"/>
          </a:solidFill>
          <a:ln w="12700">
            <a:solidFill>
              <a:srgbClr val="33409C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 are config, not code.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4800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jurisdiction is a new 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citycodes/&lt;city&gt;.json</a:t>
            </a:r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D7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 — zero verifier changes. The Z3 engine is identical for Seattle and Bellevue; only the numbers differ. This is the prototype of what the Constraint Engine now owns.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Verifier  ·  Ojas  ·  House-design pipeline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IT'S TRUSTWORTHY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properties that make it a judge, not a guesser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85816" cy="1965960"/>
          </a:xfrm>
          <a:prstGeom prst="roundRect">
            <a:avLst>
              <a:gd name="adj" fmla="val 4186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21408"/>
            <a:ext cx="502920" cy="502920"/>
          </a:xfrm>
          <a:prstGeom prst="ellipse">
            <a:avLst/>
          </a:prstGeom>
          <a:solidFill>
            <a:srgbClr val="4C5BD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139696"/>
            <a:ext cx="4197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Provable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615184"/>
            <a:ext cx="4151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decided by Z3 — a measured-vs-required proof, not a probability.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4496" y="1828800"/>
            <a:ext cx="5385816" cy="1965960"/>
          </a:xfrm>
          <a:prstGeom prst="roundRect">
            <a:avLst>
              <a:gd name="adj" fmla="val 4186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47104" y="2121408"/>
            <a:ext cx="502920" cy="502920"/>
          </a:xfrm>
          <a:prstGeom prst="ellipse">
            <a:avLst/>
          </a:prstGeom>
          <a:solidFill>
            <a:srgbClr val="1AA06D"/>
          </a:solidFill>
          <a:ln/>
        </p:spPr>
      </p:sp>
      <p:sp>
        <p:nvSpPr>
          <p:cNvPr id="11" name="Text 9"/>
          <p:cNvSpPr/>
          <p:nvPr/>
        </p:nvSpPr>
        <p:spPr>
          <a:xfrm>
            <a:off x="6547104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14616" y="2139696"/>
            <a:ext cx="4197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Tolerant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14616" y="2615184"/>
            <a:ext cx="4151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configurable float tolerance: rounding noise never causes a false failure.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85816" cy="1965960"/>
          </a:xfrm>
          <a:prstGeom prst="roundRect">
            <a:avLst>
              <a:gd name="adj" fmla="val 4186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407408"/>
            <a:ext cx="502920" cy="502920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425696"/>
            <a:ext cx="4197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901184"/>
            <a:ext cx="4151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~0.01 s per check against a 5 s budget — fits inside a tight retry loop.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54496" y="4114800"/>
            <a:ext cx="5385816" cy="1965960"/>
          </a:xfrm>
          <a:prstGeom prst="roundRect">
            <a:avLst>
              <a:gd name="adj" fmla="val 4186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47104" y="4407408"/>
            <a:ext cx="502920" cy="502920"/>
          </a:xfrm>
          <a:prstGeom prst="ellipse">
            <a:avLst/>
          </a:prstGeom>
          <a:solidFill>
            <a:srgbClr val="D6455D"/>
          </a:solidFill>
          <a:ln/>
        </p:spPr>
      </p:sp>
      <p:sp>
        <p:nvSpPr>
          <p:cNvPr id="21" name="Text 19"/>
          <p:cNvSpPr/>
          <p:nvPr/>
        </p:nvSpPr>
        <p:spPr>
          <a:xfrm>
            <a:off x="6547104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14616" y="4425696"/>
            <a:ext cx="4197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14616" y="4901184"/>
            <a:ext cx="4151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tool call: no Agent-Manager hop, no side effects, fully reproducible.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Verifier  ·  Ojas  ·  House-design pipeline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9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THE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command — runs in ~2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863840" cy="868680"/>
          </a:xfrm>
          <a:prstGeom prst="roundRect">
            <a:avLst>
              <a:gd name="adj" fmla="val 10526"/>
            </a:avLst>
          </a:prstGeom>
          <a:solidFill>
            <a:srgbClr val="0C1030"/>
          </a:solidFill>
          <a:ln w="19050">
            <a:solidFill>
              <a:srgbClr val="4C5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A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800" b="1" dirty="0">
                <a:solidFill>
                  <a:srgbClr val="EDE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~/ps1-house-layout &amp;&amp; bash demo.sh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78240" y="1828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9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the project folder · uses the bundled .venv)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4C5BD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063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E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3355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config, not code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5352" y="3099816"/>
            <a:ext cx="457200" cy="457200"/>
          </a:xfrm>
          <a:prstGeom prst="ellipse">
            <a:avLst/>
          </a:prstGeom>
          <a:solidFill>
            <a:srgbClr val="4C5BD4"/>
          </a:solidFill>
          <a:ln/>
        </p:spPr>
      </p:sp>
      <p:sp>
        <p:nvSpPr>
          <p:cNvPr id="12" name="Text 10"/>
          <p:cNvSpPr/>
          <p:nvPr/>
        </p:nvSpPr>
        <p:spPr>
          <a:xfrm>
            <a:off x="6245352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39712" y="30632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E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3355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max area — Seattle 2247 vs Bellevue 2568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457200" cy="457200"/>
          </a:xfrm>
          <a:prstGeom prst="ellipse">
            <a:avLst/>
          </a:prstGeom>
          <a:solidFill>
            <a:srgbClr val="4C5BD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931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E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(legal)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rules proven PASS in ~9 ms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3968496"/>
            <a:ext cx="457200" cy="457200"/>
          </a:xfrm>
          <a:prstGeom prst="ellipse">
            <a:avLst/>
          </a:prstGeom>
          <a:solidFill>
            <a:srgbClr val="4C5BD4"/>
          </a:solidFill>
          <a:ln/>
        </p:spPr>
      </p:sp>
      <p:sp>
        <p:nvSpPr>
          <p:cNvPr id="20" name="Text 18"/>
          <p:cNvSpPr/>
          <p:nvPr/>
        </p:nvSpPr>
        <p:spPr>
          <a:xfrm>
            <a:off x="6245352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39712" y="3931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E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(illegal)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39712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rejected, with measured-vs-required reasons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837176"/>
            <a:ext cx="457200" cy="457200"/>
          </a:xfrm>
          <a:prstGeom prst="ellipse">
            <a:avLst/>
          </a:prstGeom>
          <a:solidFill>
            <a:srgbClr val="4C5BD4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4800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E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tolerance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3000" y="5093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5e-7 ft ignored · 0.01 ft caught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45352" y="4837176"/>
            <a:ext cx="457200" cy="457200"/>
          </a:xfrm>
          <a:prstGeom prst="ellipse">
            <a:avLst/>
          </a:prstGeom>
          <a:solidFill>
            <a:srgbClr val="4C5BD4"/>
          </a:solidFill>
          <a:ln/>
        </p:spPr>
      </p:sp>
      <p:sp>
        <p:nvSpPr>
          <p:cNvPr id="28" name="Text 26"/>
          <p:cNvSpPr/>
          <p:nvPr/>
        </p:nvSpPr>
        <p:spPr>
          <a:xfrm>
            <a:off x="6245352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39712" y="4800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FE8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interior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39712" y="5093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IRC room rules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29107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9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commands also work:  python verifier_tool.py verify --city seattle --layout house.json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&amp;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Built, green, and ready to integrate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E9F7F0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A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verifiers + optimizer, 38 rules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rules: coverage 35%, living&gt;bed, corridor 15%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City-config JSON · float tolerance · CLI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green: verifier 6/6, interior ALL PASS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632" y="182880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EEF1FB"/>
          </a:solidFill>
          <a:ln w="12700">
            <a:solidFill>
              <a:srgbClr val="D5DBF0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5B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19672" y="24231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Constraint Engine JSON (per schema)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footprint / room shapes with generators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tree keep-out to a polygon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wrap as an MCP server (same 3 fns)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4193C"/>
          </a:solidFill>
          <a:ln w="12700">
            <a:solidFill>
              <a:srgbClr val="33409C"/>
            </a:solidFill>
            <a:prstDash val="solid"/>
          </a:ln>
          <a:effectLst>
            <a:outerShdw sx="100000" sy="100000" kx="0" ky="0" algn="bl" rotWithShape="0" blurRad="114300" dist="38100" dir="8100000">
              <a:srgbClr val="3A417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892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 → prove → pass/fail.  </a:t>
            </a:r>
            <a:pPr indent="0" marL="0">
              <a:buNone/>
            </a:pPr>
            <a:r>
              <a:rPr lang="en-US" sz="1600" dirty="0">
                <a:solidFill>
                  <a:srgbClr val="CA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core the whole pipeline can trust.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Verifier  ·  Ojas  ·  House-design pipeline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Z3 Verifier</dc:title>
  <dc:subject>PptxGenJS Presentation</dc:subject>
  <dc:creator>Ojas</dc:creator>
  <cp:lastModifiedBy>Ojas</cp:lastModifiedBy>
  <cp:revision>1</cp:revision>
  <dcterms:created xsi:type="dcterms:W3CDTF">2026-06-24T15:30:00Z</dcterms:created>
  <dcterms:modified xsi:type="dcterms:W3CDTF">2026-06-24T15:30:00Z</dcterms:modified>
</cp:coreProperties>
</file>