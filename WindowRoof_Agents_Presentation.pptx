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206240" cy="4206240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3" name="Shape 1"/>
          <p:cNvSpPr/>
          <p:nvPr/>
        </p:nvSpPr>
        <p:spPr>
          <a:xfrm>
            <a:off x="9829800" y="-960120"/>
            <a:ext cx="3383280" cy="3383280"/>
          </a:xfrm>
          <a:prstGeom prst="ellipse">
            <a:avLst/>
          </a:prstGeom>
          <a:solidFill>
            <a:srgbClr val="1A1D29"/>
          </a:solidFill>
        </p:spPr>
      </p:sp>
      <p:sp>
        <p:nvSpPr>
          <p:cNvPr id="4" name="Shape 2"/>
          <p:cNvSpPr/>
          <p:nvPr/>
        </p:nvSpPr>
        <p:spPr>
          <a:xfrm>
            <a:off x="10561320" y="4480560"/>
            <a:ext cx="3108960" cy="3108960"/>
          </a:xfrm>
          <a:prstGeom prst="ellipse">
            <a:avLst/>
          </a:prstGeom>
          <a:solidFill>
            <a:srgbClr val="262B3D"/>
          </a:solidFill>
        </p:spPr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· BUILD ·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Window Agent  &amp;  Roof Plan Agent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constraints-first daylight compliance  ·  lighting-aware roofing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00" cy="548640"/>
          </a:xfrm>
          <a:prstGeom prst="roundRect">
            <a:avLst>
              <a:gd name="adj" fmla="val 50000"/>
            </a:avLst>
          </a:prstGeom>
          <a:solidFill>
            <a:srgbClr val="262B3D"/>
          </a:solidFill>
          <a:ln w="15875">
            <a:solidFill>
              <a:srgbClr val="E393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shift-left  ·  provable  ·  IRC-grounded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217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 ·  AI Gurukul  ·  PS-II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Two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4023360"/>
          </a:xfrm>
          <a:prstGeom prst="rect">
            <a:avLst/>
          </a:prstGeom>
          <a:solidFill>
            <a:srgbClr val="E39321"/>
          </a:solidFill>
        </p:spPr>
      </p:sp>
      <p:sp>
        <p:nvSpPr>
          <p:cNvPr id="6" name="Text 4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Window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Aadi's daylight *scorer* into a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shift-left, deterministic *constraint* layer.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code rules (egress, light, glazing) are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 the generator + proved by Z3;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 daylight score stays non-blocking.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09728" cy="402336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Roof Plan Agent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roof geometry (gable/hip/shed/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flat), multi-floor stepped roofs, pitch +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— Z3-self-verified. Now places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sunroofs using the Window Agent's daylight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(lighting-aware roofing).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pure, reproducible, no-LLM tools that plug into the Z3 Verifier + DXF/PDF exports.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starting point, and the feedback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existed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9834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daylight SCORER + suggester: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exterior walls by sun exposure + tree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shade, suggests windows to hit a window-to-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ratio, scores daylight 0–100.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· reproducible · a soft signal.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B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it verifies AFTER the fact and enforces no hard code rules (egress, glazing, sill).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DF4E6"/>
          </a:solidFill>
          <a:ln w="12700">
            <a:solidFill>
              <a:srgbClr val="E39321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38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6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feedback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42316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LAC guideline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Lighting-only verification adds latency (retry loops)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give lighting as constraints, not post-checks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deterministic vs non-deterministic verification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hard window rules (egress, tempered glass,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sill/header, per-room placement) with Constraint Engine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Floor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LAC GUIDELINE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Latency · Accuracy · Concurrency → three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"LAC" is a systems trilemma. It isn't a separate task — it is the rationale for every decision below.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0052" y="2377440"/>
            <a:ext cx="731520" cy="731520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7" name="Text 5"/>
          <p:cNvSpPr/>
          <p:nvPr/>
        </p:nvSpPr>
        <p:spPr>
          <a:xfrm>
            <a:off x="1940052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Latency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39312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stall in retry loops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4069080"/>
            <a:ext cx="30022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— SHIFT-LEFT the hard rules into constraints, so illegal windows aren't generated → far fewer generate→verify→fail rounds.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7304" y="214884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0184" y="3246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0184" y="3639312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correct &amp; reproducible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3336" y="4069080"/>
            <a:ext cx="30022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— DETERMINISTIC verification: a provable, same-input→same-verdict gate (a stochastic sim can't guarantee this).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5968" y="214884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17380" y="2377440"/>
            <a:ext cx="731520" cy="731520"/>
          </a:xfrm>
          <a:prstGeom prst="ellipse">
            <a:avLst/>
          </a:prstGeom>
          <a:solidFill>
            <a:srgbClr val="1AA06D"/>
          </a:solidFill>
        </p:spPr>
      </p:sp>
      <p:sp>
        <p:nvSpPr>
          <p:cNvPr id="19" name="Text 17"/>
          <p:cNvSpPr/>
          <p:nvPr/>
        </p:nvSpPr>
        <p:spPr>
          <a:xfrm>
            <a:off x="9517380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08848" y="3246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Concurrency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8848" y="3639312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parallel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82000" y="4069080"/>
            <a:ext cx="30022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(soft tier) — the daylight SCORE is NON-BLOCKING; Livability runs concurrently, only a real violation gates.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1 —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Lighting/compliance verification is DETERMINISTIC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cols:  Approach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384048"/>
          </a:xfrm>
          <a:prstGeom prst="rect">
            <a:avLst/>
          </a:prstGeom>
          <a:solidFill>
            <a:srgbClr val="1A1D29"/>
          </a:solidFill>
        </p:spPr>
      </p:sp>
      <p:sp>
        <p:nvSpPr>
          <p:cNvPr id="6" name="Text 4"/>
          <p:cNvSpPr/>
          <p:nvPr/>
        </p:nvSpPr>
        <p:spPr>
          <a:xfrm>
            <a:off x="1051560" y="182880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29800" y="18288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395728"/>
            <a:ext cx="292608" cy="292608"/>
          </a:xfrm>
          <a:prstGeom prst="ellipse">
            <a:avLst/>
          </a:prstGeom>
          <a:solidFill>
            <a:srgbClr val="1AA06D"/>
          </a:solidFill>
        </p:spPr>
      </p:sp>
      <p:sp>
        <p:nvSpPr>
          <p:cNvPr id="12" name="Text 10"/>
          <p:cNvSpPr/>
          <p:nvPr/>
        </p:nvSpPr>
        <p:spPr>
          <a:xfrm>
            <a:off x="713232" y="23957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12848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analytic (WWR, sun-weight, code predicates)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21284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2212848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29800" y="221284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71216"/>
            <a:ext cx="11091672" cy="658368"/>
          </a:xfrm>
          <a:prstGeom prst="rect">
            <a:avLst/>
          </a:prstGeom>
          <a:solidFill>
            <a:srgbClr val="F3F4F8"/>
          </a:solidFill>
          <a:ln w="6350">
            <a:solidFill>
              <a:srgbClr val="DCE1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054096"/>
            <a:ext cx="292608" cy="292608"/>
          </a:xfrm>
          <a:prstGeom prst="ellipse">
            <a:avLst/>
          </a:prstGeom>
          <a:solidFill>
            <a:srgbClr val="D6455D"/>
          </a:solidFill>
        </p:spPr>
      </p:sp>
      <p:sp>
        <p:nvSpPr>
          <p:cNvPr id="19" name="Text 17"/>
          <p:cNvSpPr/>
          <p:nvPr/>
        </p:nvSpPr>
        <p:spPr>
          <a:xfrm>
            <a:off x="713232" y="30540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71216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Physically-based daylight sim (Radiance, Monte-Carlo)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87121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No*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2871216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287121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sec–min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29584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712464"/>
            <a:ext cx="292608" cy="292608"/>
          </a:xfrm>
          <a:prstGeom prst="ellipse">
            <a:avLst/>
          </a:prstGeom>
          <a:solidFill>
            <a:srgbClr val="D6455D"/>
          </a:solidFill>
        </p:spPr>
      </p:sp>
      <p:sp>
        <p:nvSpPr>
          <p:cNvPr id="26" name="Text 24"/>
          <p:cNvSpPr/>
          <p:nvPr/>
        </p:nvSpPr>
        <p:spPr>
          <a:xfrm>
            <a:off x="713232" y="37124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529584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ML judge of "is the lighting ok"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529584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3880" y="3529584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9800" y="3529584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+ $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A1D29"/>
          </a:solidFill>
          <a:ln w="12700">
            <a:solidFill>
              <a:srgbClr val="B9761A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526280"/>
            <a:ext cx="104241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2C6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linchpin:  </a:t>
            </a:r>
            <a:r>
              <a:rPr lang="en-US" sz="1450" b="1" dirty="0">
                <a:solidFill>
                  <a:srgbClr val="E39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</a:t>
            </a:r>
            <a:r>
              <a:rPr lang="en-US" sz="1450" dirty="0">
                <a:solidFill>
                  <a:srgbClr val="CF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— you can only hand a rule to the generator as a CONSTRAINT if it is a decidable predicate. A Monte-Carlo daylight score can never be a constraint, only a post-hoc score.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48640" y="629107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Monte-Carlo daylight metrics vary run-to-run — unacceptable for a legal gate.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2 — LATENCY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Shift-left: split HARD constraints from the SOFT score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BECEE"/>
          </a:solidFill>
          <a:ln w="12700">
            <a:solidFill>
              <a:srgbClr val="D6455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5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Before — verify after the fact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73736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24328" y="2569464"/>
            <a:ext cx="365760" cy="0"/>
          </a:xfrm>
          <a:prstGeom prst="line">
            <a:avLst/>
          </a:prstGeom>
          <a:noFill/>
          <a:ln w="25400">
            <a:solidFill>
              <a:srgbClr val="D6455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17520" y="2286000"/>
            <a:ext cx="173736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8600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73168" y="2569464"/>
            <a:ext cx="365760" cy="0"/>
          </a:xfrm>
          <a:prstGeom prst="line">
            <a:avLst/>
          </a:prstGeom>
          <a:noFill/>
          <a:ln w="25400">
            <a:solidFill>
              <a:srgbClr val="D6455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2286000"/>
            <a:ext cx="1737360" cy="566928"/>
          </a:xfrm>
          <a:prstGeom prst="roundRect">
            <a:avLst>
              <a:gd name="adj" fmla="val 48387"/>
            </a:avLst>
          </a:prstGeom>
          <a:solidFill>
            <a:srgbClr val="D6455D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8600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22008" y="2569464"/>
            <a:ext cx="365760" cy="0"/>
          </a:xfrm>
          <a:prstGeom prst="line">
            <a:avLst/>
          </a:prstGeom>
          <a:noFill/>
          <a:ln w="25400">
            <a:solidFill>
              <a:srgbClr val="D6455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2286000"/>
            <a:ext cx="173736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286000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0" y="2286000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every failed round is a full (LLM) regeneration = latency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E9F7F0"/>
          </a:solidFill>
          <a:ln w="12700">
            <a:solidFill>
              <a:srgbClr val="1AA06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50215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06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After — constraints first (correct-by-construction)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88620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886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given up front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93008" y="4169664"/>
            <a:ext cx="256032" cy="0"/>
          </a:xfrm>
          <a:prstGeom prst="line">
            <a:avLst/>
          </a:prstGeom>
          <a:noFill/>
          <a:ln w="25400">
            <a:solidFill>
              <a:srgbClr val="1AA06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94760" y="388620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886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satisfies them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19088" y="4169664"/>
            <a:ext cx="256032" cy="0"/>
          </a:xfrm>
          <a:prstGeom prst="line">
            <a:avLst/>
          </a:prstGeom>
          <a:noFill/>
          <a:ln w="25400">
            <a:solidFill>
              <a:srgbClr val="1AA06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20840" y="3886200"/>
            <a:ext cx="260604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8862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(usually passes)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8463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(gate): </a:t>
            </a: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· light ≥8% · vent ≥4% · safety glazing · sill — proved by Z3, given to the generator.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9632" y="484632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3952" y="48463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(score): </a:t>
            </a: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quality, orientation, tree-shade, aesthetics — Aadi's agent, non-blocking, in the report.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3 — THE RULE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Every hard rule grounded in the IRC (auditable, city-tunable)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676656"/>
          </a:xfrm>
          <a:prstGeom prst="roundRect">
            <a:avLst>
              <a:gd name="adj" fmla="val 10811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56816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E39321"/>
          </a:solidFill>
          <a:ln w="12700">
            <a:solidFill>
              <a:srgbClr val="E393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5681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egress_window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sleeping room: 1 operable window, net clear ≥ 5.7 sq ft, ≥ 24 in H, ≥ 20 in W, sill ≤ 44 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0" y="1828800"/>
            <a:ext cx="10058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IRC R310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676656"/>
          </a:xfrm>
          <a:prstGeom prst="roundRect">
            <a:avLst>
              <a:gd name="adj" fmla="val 10811"/>
            </a:avLst>
          </a:prstGeom>
          <a:solidFill>
            <a:srgbClr val="E9ECF3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43200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natural_light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615184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Habitable room glazing ≥ 8% of floor area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0" y="2615184"/>
            <a:ext cx="10058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IRC R303.1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91672" cy="676656"/>
          </a:xfrm>
          <a:prstGeom prst="roundRect">
            <a:avLst>
              <a:gd name="adj" fmla="val 10811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29584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9584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natural_ventilation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3401568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Openable area ≥ 4% of floor area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0" y="3401568"/>
            <a:ext cx="10058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IRC R303.1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11091672" cy="676656"/>
          </a:xfrm>
          <a:prstGeom prst="roundRect">
            <a:avLst>
              <a:gd name="adj" fmla="val 10811"/>
            </a:avLst>
          </a:prstGeom>
          <a:solidFill>
            <a:srgbClr val="E9ECF3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15968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E39321"/>
          </a:solidFill>
          <a:ln w="12700">
            <a:solidFill>
              <a:srgbClr val="E393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1596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safety_glazing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11880" y="4187952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 &lt; 18 in, wet rooms, or next to a door → must be tempered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0" y="4187952"/>
            <a:ext cx="10058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IRC R308.4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11091672" cy="676656"/>
          </a:xfrm>
          <a:prstGeom prst="roundRect">
            <a:avLst>
              <a:gd name="adj" fmla="val 10811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102352"/>
            <a:ext cx="2651760" cy="420624"/>
          </a:xfrm>
          <a:prstGeom prst="roundRect">
            <a:avLst>
              <a:gd name="adj" fmla="val 13043"/>
            </a:avLst>
          </a:prstGeom>
          <a:solidFill>
            <a:srgbClr val="1AA06D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0235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operable-for-egress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11880" y="4974336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windows must be an operable type (fixed/picture rejected)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0" y="4974336"/>
            <a:ext cx="10058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IRC R310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(city) values — the tempered-sill and egress-sill thresholds — are overridable per jurisdiction by the Constraint Engine ruleset.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→ RESPONSE (1/3)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four principles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402336" cy="402336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6" name="Text 4"/>
          <p:cNvSpPr/>
          <p:nvPr/>
        </p:nvSpPr>
        <p:spPr>
          <a:xfrm>
            <a:off x="804672" y="20848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95681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Follow the LAC guideline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LAC = Latency·Accuracy·Concurrency; the three design decisions each target one leg.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108960"/>
            <a:ext cx="402336" cy="402336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11" name="Text 9"/>
          <p:cNvSpPr/>
          <p:nvPr/>
        </p:nvSpPr>
        <p:spPr>
          <a:xfrm>
            <a:off x="804672" y="3108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980944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Lighting-only verification adds latency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3310128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the generate→verify→fail loop is the cost; addressed by shift-left.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3088"/>
            <a:ext cx="402336" cy="402336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16" name="Text 14"/>
          <p:cNvSpPr/>
          <p:nvPr/>
        </p:nvSpPr>
        <p:spPr>
          <a:xfrm>
            <a:off x="804672" y="41330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Shift-left lighting as constraints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334256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verify_windows: hard rules are now constraints given to the generator + proved, not post-hoc checks.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157216"/>
            <a:ext cx="402336" cy="402336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21" name="Text 19"/>
          <p:cNvSpPr/>
          <p:nvPr/>
        </p:nvSpPr>
        <p:spPr>
          <a:xfrm>
            <a:off x="804672" y="51572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Deterministic vs non-deterministic?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358384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DETERMINISTIC, with the linchpin justification (shift-left needs decidable predicates).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→ RESPONSE (2/3)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window rules made HARD + provable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need fire-escape windows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1828800"/>
            <a:ext cx="5623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egress_window — IRC R310 (≥5.7 sqft, 24×20 in, sill ≤44 in, operable)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E9ECF3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65176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Tempered glass below height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651760"/>
            <a:ext cx="5623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safety_glazing — IRC R308.4, city-tunable sill threshold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7472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47472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 / header height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3474720"/>
            <a:ext cx="5623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sill_height_ft field; enforced by egress + tempered rules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E9ECF3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29768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light &amp; air per room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4297680"/>
            <a:ext cx="5623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natural_light ≥8%, natural_ventilation ≥4% — IRC R303.1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20640"/>
            <a:ext cx="4572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12064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Fire-egress ⇒ operable (sliding/openable)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5120640"/>
            <a:ext cx="5623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 requires an operable window type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deterministic, city-parameterisable, and callable as verify_windows(windows, rooms, constraints=ruleset).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→ RESPONSE (3/3)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Placement &amp; aesthetics — soft, or needs coordination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93976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6" name="Text 4"/>
          <p:cNvSpPr/>
          <p:nvPr/>
        </p:nvSpPr>
        <p:spPr>
          <a:xfrm>
            <a:off x="1115568" y="192024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window near shower / 3×2 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223113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needs fixture (shower) position from Floor Plan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2093976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10" name="Text 8"/>
          <p:cNvSpPr/>
          <p:nvPr/>
        </p:nvSpPr>
        <p:spPr>
          <a:xfrm>
            <a:off x="6739128" y="192024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bath windows around the tub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9128" y="223113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needs tub position from Floor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990088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14" name="Text 12"/>
          <p:cNvSpPr/>
          <p:nvPr/>
        </p:nvSpPr>
        <p:spPr>
          <a:xfrm>
            <a:off x="1115568" y="2816352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closet: small, high window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127248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placement heuristic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72491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990088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18" name="Text 16"/>
          <p:cNvSpPr/>
          <p:nvPr/>
        </p:nvSpPr>
        <p:spPr>
          <a:xfrm>
            <a:off x="6739128" y="2816352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window above the sink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3127248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needs sink position from Floor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886200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22" name="Text 20"/>
          <p:cNvSpPr/>
          <p:nvPr/>
        </p:nvSpPr>
        <p:spPr>
          <a:xfrm>
            <a:off x="1115568" y="3712464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window not behind the bed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402336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needs bed position from Floor Plan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621024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3886200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26" name="Text 24"/>
          <p:cNvSpPr/>
          <p:nvPr/>
        </p:nvSpPr>
        <p:spPr>
          <a:xfrm>
            <a:off x="6739128" y="3712464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glazing scales with budget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39128" y="402336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— a Livability score dimension, not code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1713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782312"/>
            <a:ext cx="256032" cy="256032"/>
          </a:xfrm>
          <a:prstGeom prst="ellipse">
            <a:avLst/>
          </a:prstGeom>
          <a:solidFill>
            <a:srgbClr val="E39321"/>
          </a:solidFill>
        </p:spPr>
      </p:sp>
      <p:sp>
        <p:nvSpPr>
          <p:cNvPr id="30" name="Text 28"/>
          <p:cNvSpPr/>
          <p:nvPr/>
        </p:nvSpPr>
        <p:spPr>
          <a:xfrm>
            <a:off x="1115568" y="460857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window; patio ⇒ sliding door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4919472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/ handled by Floor Plan (doors)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9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these to HARD checks the moment the Floor Plan agent emits fixture coordinates (sink, bed, tub). Coordination item with Prasad.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AGENT —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Deterministic, ~6 ms, exact measured-vs-required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2141F"/>
          </a:solidFill>
          <a:ln w="12700">
            <a:solidFill>
              <a:srgbClr val="262B3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75104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verify_windows(compliant)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377440"/>
            <a:ext cx="4983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rooms: bedroom, living, bathroom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          : True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n_failed      : 0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solve_time_s  : 0.006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egress, light, vent, safety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glazing all satisfied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2141F"/>
          </a:solidFill>
          <a:ln w="12700">
            <a:solidFill>
              <a:srgbClr val="262B3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975104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verify_windows(non_compliant)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5664" y="2377440"/>
            <a:ext cx="4983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BB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: False    n_failed : 6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egress_window        bed  (R310)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natural_light   4&lt;12 bed  (R303)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natural_ventilation 0&lt;6 bed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natural_light  4&lt;24 living(R303)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natural_ventilation 4&lt;12 living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0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safety_glazing sill 12in&lt;18in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violation carries the measured value, the required value, and the IRC section — ready to feed a generator retry or a reviewer.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C6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Constraints-first residential daylight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262B3D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0A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Prevailing: generate-then-simulate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/ diffusion model proposes; a physically-based simulator scores the daylight afterwards. Stochastic, slow, can't constrain generation.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262B3D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933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E0B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Ours: a dual-use predicate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6888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deterministic, IRC-grounded predicate both constrains generation (correct-by-construction) AND proves compliance. Only possible because it's deterministic.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2141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10424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C6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claim: </a:t>
            </a:r>
            <a:r>
              <a:rPr lang="en-US" sz="135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"is it legal" (provable) from "is it nice" (scored) — and reuse the legal predicate as a generator constraint. A clean paper angle in generative building design.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Grounding: IRC R310 (egress) · R303.1 (light/vent) · R308.4 (safety glazing)  ·  full memo: WINDOW_AGENT_RESEARCH.md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 PLAN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Deterministic geometry · Z3-self-verified · Cluster 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← Elevation / Multi-floor (+ Window daylight)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roof polygons "view_type":"roof" → DXF Generator + PDF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 </a:t>
            </a: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outline (matches footprint exactly), ridge, hips, per-plane pitch + drainage, heights.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99632" y="1783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Roof 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219456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9456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42832" y="219456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219456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265176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65176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 (mono-pitch)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42832" y="265176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651760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(drained)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320040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multi-floor STEPPED roofs (a lower shed over the garage), per-level roof types.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 w="12700">
            <a:solidFill>
              <a:srgbClr val="E39321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76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Self-verifies before handoff (same propose→prove pattern as the generators)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52628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2628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roof_matches_footprint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452628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52628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stepped_roof_downward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452628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452628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roof_eave_setback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" y="507492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07492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pitch_specified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507492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507492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drainage_specified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01000" y="507492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76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507492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skylight_within_roof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 DEMO + LIGHTING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Sunroof placed from the Window Agent's daylight scores</a:t>
            </a:r>
            <a:endParaRPr lang="en-US" sz="2700" dirty="0"/>
          </a:p>
        </p:txBody>
      </p:sp>
      <p:pic>
        <p:nvPicPr>
          <p:cNvPr id="4" name="Image 0" descr="output/roof_pla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783080"/>
            <a:ext cx="60350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783080"/>
            <a:ext cx="4782312" cy="2148840"/>
          </a:xfrm>
          <a:prstGeom prst="roundRect">
            <a:avLst>
              <a:gd name="adj" fmla="val 3404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skylight rule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33172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per-room daylight scores from the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→ drops a sunroof over each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UNDER-LIT top-floor room (score &lt; 45), on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sunniest roof plane (prefers S/E/W).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4069080"/>
            <a:ext cx="4782312" cy="1874520"/>
          </a:xfrm>
          <a:prstGeom prst="roundRect">
            <a:avLst>
              <a:gd name="adj" fmla="val 3415"/>
            </a:avLst>
          </a:prstGeom>
          <a:solidFill>
            <a:srgbClr val="12141F"/>
          </a:solidFill>
          <a:ln w="12700">
            <a:solidFill>
              <a:srgbClr val="262B3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14032" y="4270248"/>
            <a:ext cx="4325112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 PLAN — VERIFIED ✓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DB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gable 5:12  ridge 28.8ft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DB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garage shed  5:12  (stepped, lower)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sunroof → family_room (score 34)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3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 the E (sun) plane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CONNECTS ·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Two agents, one daylight-aware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5875">
            <a:solidFill>
              <a:srgbClr val="E39321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5681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Window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scores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35808" y="2350008"/>
            <a:ext cx="329184" cy="0"/>
          </a:xfrm>
          <a:prstGeom prst="line">
            <a:avLst/>
          </a:prstGeom>
          <a:noFill/>
          <a:ln w="25400">
            <a:solidFill>
              <a:srgbClr val="6A71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5875">
            <a:solidFill>
              <a:srgbClr val="1C7293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5681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Roof Plan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3317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sunroof placement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geometry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70448" y="2350008"/>
            <a:ext cx="329184" cy="0"/>
          </a:xfrm>
          <a:prstGeom prst="line">
            <a:avLst/>
          </a:prstGeom>
          <a:noFill/>
          <a:ln w="25400">
            <a:solidFill>
              <a:srgbClr val="6A71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5875">
            <a:solidFill>
              <a:srgbClr val="1AA06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95681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D2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Z3 Verifier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05088" y="2350008"/>
            <a:ext cx="329184" cy="0"/>
          </a:xfrm>
          <a:prstGeom prst="line">
            <a:avLst/>
          </a:prstGeom>
          <a:noFill/>
          <a:ln w="25400">
            <a:solidFill>
              <a:srgbClr val="6A71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A1D29"/>
          </a:solidFill>
          <a:ln w="15875">
            <a:solidFill>
              <a:srgbClr val="262B3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95681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DXF / PDF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F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E9F7F0"/>
          </a:solidFill>
          <a:ln w="12700">
            <a:solidFill>
              <a:srgbClr val="1AA06D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A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840480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constraint layer (egress/light/vent/glazing), deterministic + IRC-cited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agent: geometry, stepped roofs, pitch/drainage, DXF+SVG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Skylight placement from daylight scores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Z3-self-verified; demos + docs written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29184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3F4F8"/>
          </a:solidFill>
          <a:ln w="12700">
            <a:solidFill>
              <a:srgbClr val="DCE1EB"/>
            </a:solidFill>
            <a:prstDash val="solid"/>
          </a:ln>
          <a:effectLst>
            <a:outerShdw blurRad="114300" dist="38100" dir="8100000" algn="bl" rotWithShape="0">
              <a:srgbClr val="2A2F4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(coordination)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840480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Engine (Harshit): add a windows block + per-city thresholds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(Prasad): emit fixture positions → promotes SOFT placement to HARD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Aadi's exact daylight-score field name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physically-based sim as an offline quality enrichment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Agent + Roof Plan Agent  ·  Ojas  ·  AI Gurukul PS-II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9637</Words>
  <Application>WPS Writer</Application>
  <PresentationFormat>On-screen Show (16:9)</PresentationFormat>
  <Paragraphs>483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SimSun</vt:lpstr>
      <vt:lpstr>Wingdings</vt:lpstr>
      <vt:lpstr>Consolas</vt:lpstr>
      <vt:lpstr>苹方-简</vt:lpstr>
      <vt:lpstr>Consolas</vt:lpstr>
      <vt:lpstr>Consolas</vt:lpstr>
      <vt:lpstr>Georgia</vt:lpstr>
      <vt:lpstr>Georgia</vt:lpstr>
      <vt:lpstr>Georgia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Agent &amp; Roof Plan Agent</dc:title>
  <dc:creator>Ojas</dc:creator>
  <dc:subject>PptxGenJS Presentation</dc:subject>
  <cp:lastModifiedBy>Ojas Marathe</cp:lastModifiedBy>
  <cp:revision>2</cp:revision>
  <dcterms:created xsi:type="dcterms:W3CDTF">2026-07-02T15:27:04Z</dcterms:created>
  <dcterms:modified xsi:type="dcterms:W3CDTF">2026-07-02T15:27:04Z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9A12230AD3F1C4AD4883466AD2736268_42</vt:lpwstr>
  </property>
  <property fmtid="{D5CDD505-2E9C-101B-9397-08002B2CF9AE}" pid="3" name="KSOProductBuildVer">
    <vt:lpwstr>1033-6.10.2.8397</vt:lpwstr>
  </property>
</Properties>
</file>