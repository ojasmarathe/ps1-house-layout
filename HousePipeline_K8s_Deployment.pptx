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6314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3291840" cy="3291840"/>
          </a:xfrm>
          <a:prstGeom prst="ellipse">
            <a:avLst/>
          </a:prstGeom>
          <a:solidFill>
            <a:srgbClr val="1631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TASK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Containerising &amp; Scaling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House-Design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 →  Kubernetes on AWS EC2  →  S3 + autoscaling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16314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E6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→  containerise  →  scale 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 ·  AI Gurukul  ·  PS-II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pipeline as a scalable cloud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sir asked, decoded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225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node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machine that, once K8s is installed, joins the cluster as a node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35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→ cluster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init turns an EC2 into a cluster; more EC2s join as workers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822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85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pod → run image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schedules a Pod → runs your Container → runs the Docker image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535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containers / no bottleneck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autoscaler adds Pods; the Service load-balances queries across them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53218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285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image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5559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 registry (ECR / Docker Hub) so the cluster can pull 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layered mental model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148840"/>
            <a:ext cx="5303520" cy="3931920"/>
          </a:xfrm>
          <a:prstGeom prst="roundRect">
            <a:avLst>
              <a:gd name="adj" fmla="val 1628"/>
            </a:avLst>
          </a:prstGeom>
          <a:solidFill>
            <a:srgbClr val="0F22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2670048"/>
            <a:ext cx="4480560" cy="3337560"/>
          </a:xfrm>
          <a:prstGeom prst="roundRect">
            <a:avLst>
              <a:gd name="adj" fmla="val 1918"/>
            </a:avLst>
          </a:prstGeom>
          <a:solidFill>
            <a:srgbClr val="1631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761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 (virtual machine)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3191256"/>
            <a:ext cx="3657600" cy="2743200"/>
          </a:xfrm>
          <a:prstGeom prst="roundRect">
            <a:avLst>
              <a:gd name="adj" fmla="val 2333"/>
            </a:avLst>
          </a:prstGeom>
          <a:solidFill>
            <a:srgbClr val="1350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3282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Node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3712464"/>
            <a:ext cx="2834640" cy="2148840"/>
          </a:xfrm>
          <a:prstGeom prst="roundRect">
            <a:avLst>
              <a:gd name="adj" fmla="val 2979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803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233672"/>
            <a:ext cx="2011680" cy="1554480"/>
          </a:xfrm>
          <a:prstGeom prst="roundRect">
            <a:avLst>
              <a:gd name="adj" fmla="val 4118"/>
            </a:avLst>
          </a:prstGeom>
          <a:solidFill>
            <a:srgbClr val="E88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325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4800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Docker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every piece sits at run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DCE7EE"/>
          </a:solidFill>
          <a:ln w="15875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788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21408" y="3264408"/>
            <a:ext cx="457200" cy="0"/>
          </a:xfrm>
          <a:prstGeom prst="line">
            <a:avLst/>
          </a:prstGeom>
          <a:noFill/>
          <a:ln w="31750">
            <a:solidFill>
              <a:srgbClr val="1350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06040" y="26974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 w="15875">
            <a:solidFill>
              <a:srgbClr val="13506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2807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:30080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18888" y="3264408"/>
            <a:ext cx="758952" cy="-978408"/>
          </a:xfrm>
          <a:prstGeom prst="line">
            <a:avLst/>
          </a:prstGeom>
          <a:noFill/>
          <a:ln w="25400">
            <a:solidFill>
              <a:srgbClr val="1350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18888" y="3264408"/>
            <a:ext cx="758952" cy="27432"/>
          </a:xfrm>
          <a:prstGeom prst="line">
            <a:avLst/>
          </a:prstGeom>
          <a:noFill/>
          <a:ln w="25400">
            <a:solidFill>
              <a:srgbClr val="1350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18888" y="3264408"/>
            <a:ext cx="758952" cy="1033272"/>
          </a:xfrm>
          <a:prstGeom prst="line">
            <a:avLst/>
          </a:prstGeom>
          <a:noFill/>
          <a:ln w="25400">
            <a:solidFill>
              <a:srgbClr val="135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1874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235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· 1 Z3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880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2990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235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· 1 Z3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38862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3995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2356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· 1 Z3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scales pods 2 → 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32520" y="187452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DCE7EE"/>
          </a:solidFill>
          <a:ln w="15875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0" y="1984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bucket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824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city-code rule files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artifacts)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32520" y="370332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DCE7EE"/>
          </a:solidFill>
          <a:ln w="15875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0" y="3813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ECR registry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Docker image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73568" y="3154680"/>
            <a:ext cx="758952" cy="-685800"/>
          </a:xfrm>
          <a:prstGeom prst="line">
            <a:avLst/>
          </a:prstGeom>
          <a:noFill/>
          <a:ln w="22225">
            <a:solidFill>
              <a:srgbClr val="1FA97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028432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32520" y="4160520"/>
            <a:ext cx="-758952" cy="-548640"/>
          </a:xfrm>
          <a:prstGeom prst="line">
            <a:avLst/>
          </a:prstGeom>
          <a:noFill/>
          <a:ln w="22225">
            <a:solidFill>
              <a:srgbClr val="5E6E7C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028432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</a:t>
            </a:r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hits the Service, which load-balances it to one of N identical Pods; each Pod runs the container that pulled its city-code rules from S3 at startup.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LOCALLY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Built, containerised, and verified —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3200400"/>
          </a:xfrm>
          <a:prstGeom prst="roundRect">
            <a:avLst>
              <a:gd name="adj" fmla="val 2000"/>
            </a:avLst>
          </a:prstGeom>
          <a:solidFill>
            <a:srgbClr val="0B1822"/>
          </a:solidFill>
          <a:ln w="12700">
            <a:solidFill>
              <a:srgbClr val="13506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house-pipeline:v1 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8000:8000 house-pipeline:v1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.../optimize?city=bellevue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"max_buildable_area_sqft": 2568.0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.../generate -d '{"city":"seattle"}'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"interior": { "rooms": 8, "verified": true 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"took_ms": 39.6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8928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9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0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clean on python:3.11-slim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2862072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rooms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0" y="28620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Z3-verified, 0 violations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3941064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40507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 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0" y="39410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/generate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DCE7EE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live:  </a:t>
            </a:r>
            <a:pPr indent="0" marL="0">
              <a:buNone/>
            </a:pPr>
            <a:r>
              <a:rPr lang="en-US" sz="13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   /cities   /optimize   /verify   /generate</a:t>
            </a:r>
            <a:pPr indent="0" marL="0">
              <a:buNone/>
            </a:pPr>
            <a:r>
              <a:rPr lang="en-US" sz="13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same image will run unchanged inside a Kubernetes pod.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REAL BUG I HIT &amp; FIXED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Z3 is not thread-safe — found it under 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BECEE"/>
          </a:solidFill>
          <a:ln w="15875">
            <a:solidFill>
              <a:srgbClr val="D645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concurrent /generate requests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multiple threads call Z3 at once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45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ASSERTION VIOLATION  (ast.cpp)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pod segfaults, exit 139  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E9F7F0"/>
          </a:solidFill>
          <a:ln w="15875">
            <a:solidFill>
              <a:srgbClr val="1FA9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threading.Lock() serialises Z3 calls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60 requests, 12 concurrent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200, pod stays healthy ✓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correctness over raw speed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F2233"/>
          </a:solidFill>
          <a:ln w="12700">
            <a:solidFill>
              <a:srgbClr val="13506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57200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FD0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insight: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pod can only run Z3 single-threaded — so you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more pods, not more threads.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That's exactly what Kubernetes (HPA + Service) is for.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SCALES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“So querying doesn't bottleneck” — answered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3506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 ·  NodePort :30080  ·  load-balances every query across ALL pods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2340864"/>
            <a:ext cx="0" cy="146304"/>
          </a:xfrm>
          <a:prstGeom prst="line">
            <a:avLst/>
          </a:prstGeom>
          <a:noFill/>
          <a:ln w="31750">
            <a:solidFill>
              <a:srgbClr val="1350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5603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25603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25603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25603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F2233"/>
          </a:solidFill>
          <a:ln w="15875">
            <a:solidFill>
              <a:srgbClr val="E8833A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0" y="25603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8833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326880" y="2560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 up to 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54787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adds / removes pods automatically as CPU rises &amp; falls   (min 2 → max 8)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04164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≈ 1 query at a time (~40 ms) and never crashes — Z3 is serialised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537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pods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553712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≈ N queries in parallel — throughput scales linearly with pod count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65776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0657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5065776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incoming queries so no single pod is ever the bottleneck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EA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778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557784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CPU and changes the pod count automatically — no human in the loop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KUBERNETES OBJECTS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small YAML files describe the whole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01952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019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space (house-pipeline) for all our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7EE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5176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25328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config: S3 bucket, region, city-code prefix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0156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0156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328269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 replica pods of the image, with /health probes + CPU/RAM limits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7EE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151376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513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40325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:30080 — one stable address, load-balances across pods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0118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011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HorizontalPodAutoscaler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478231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8 pods automatically at 70% CPU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5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them all with one command:   kubectl apply -f k8s/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TO AWS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steps from local image to live cluster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762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3113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image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push house-pipeline:v1 to ECR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7304" y="192024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1624" y="21762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1624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97424" y="223113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cluster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9912" y="283464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×2 + kubeadm init/join + Calico CNI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92024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0288" y="21762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00288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86088" y="223113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+ IAM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8576" y="283464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city codes; let worker nodes read the bucket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507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10565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metrics-server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709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so the HPA can read CPU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7304" y="379476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1624" y="4050792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1624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97424" y="410565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apply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9912" y="4709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→ configmap → deployment → service → hpa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25968" y="3794760"/>
            <a:ext cx="3514344" cy="164592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CFDBE4"/>
            </a:solidFill>
            <a:prstDash val="solid"/>
          </a:ln>
          <a:effectLst>
            <a:outerShdw sx="100000" sy="100000" kx="0" ky="0" algn="bl" rotWithShape="0" blurRad="114300" dist="38100" dir="8100000">
              <a:srgbClr val="2431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0288" y="4050792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1" name="Text 29"/>
          <p:cNvSpPr/>
          <p:nvPr/>
        </p:nvSpPr>
        <p:spPr>
          <a:xfrm>
            <a:off x="8400288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86088" y="4105656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Load-test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8576" y="4709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hey/k6 the endpoint, watch kubectl get hpa scale 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·  House-Design Pipeline  ·  Ojas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&amp;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 today, and how to show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12303A"/>
          </a:solidFill>
          <a:ln w="12700">
            <a:solidFill>
              <a:srgbClr val="1FA9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over PS1+PS2 pipeline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&amp; run, all endpoints OK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Thread-safety bug found &amp; fixed (load-tested)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K8s manifests + S3 artifact loader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DEPLOY.md runbook (decodes the brief)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40680" cy="2697480"/>
          </a:xfrm>
          <a:prstGeom prst="roundRect">
            <a:avLst>
              <a:gd name="adj" fmla="val 2712"/>
            </a:avLst>
          </a:prstGeom>
          <a:solidFill>
            <a:srgbClr val="1230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D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(needs AWS)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9672" y="23774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 to ECR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EC2 + kubeadm cluster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+ worker-node IAM role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k8s/  + metrics-server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&amp; watch the HPA scale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1822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50" b="1" dirty="0">
                <a:solidFill>
                  <a:srgbClr val="ED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8000:8000 house-pipeline:v1</a:t>
            </a:r>
            <a:pPr indent="0" marL="0">
              <a:buNone/>
            </a:pPr>
            <a:r>
              <a:rPr lang="en-US" sz="1350" b="1" dirty="0">
                <a:solidFill>
                  <a:srgbClr val="5E6E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   </a:t>
            </a:r>
            <a:pPr indent="0" marL="0">
              <a:buNone/>
            </a:pPr>
            <a:r>
              <a:rPr lang="en-US" sz="1350" b="1" dirty="0">
                <a:solidFill>
                  <a:srgbClr val="ED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localhost:8000/generate -d '{"city":"seattle"}'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House-Design Pipeline — Containerisation &amp; Kubernetes</dc:title>
  <dc:subject>PptxGenJS Presentation</dc:subject>
  <dc:creator>Ojas</dc:creator>
  <cp:lastModifiedBy>Ojas</cp:lastModifiedBy>
  <cp:revision>1</cp:revision>
  <dcterms:created xsi:type="dcterms:W3CDTF">2026-06-28T11:11:29Z</dcterms:created>
  <dcterms:modified xsi:type="dcterms:W3CDTF">2026-06-28T11:11:29Z</dcterms:modified>
</cp:coreProperties>
</file>