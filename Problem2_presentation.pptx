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1200" kern="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MILP-Verified CAD Floor Plans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Generate-and-guarantee interiors: CBC cutting planes propose, Z3 proves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5029200"/>
            <a:ext cx="36576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1389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Ojas Marathe  ·  7 June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Generator: PuLP + CBC  ·  Judge: Z3 SMT  ·  LLMs: Gemini 2.5 Flash + Llama 3.3 70B (Groq)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verified exterior to a complete, code-checked interior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BRIEF ASKS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full residential floor plan: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bedrooms · 2 bathrooms · 1 kitchen · 1 living · 1 corridor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verify it against IRC R304/R305 room-size rules and architectural spatial rules (ensuite, sanitation, circulation).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0FDFA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251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SHIFT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46177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let the LLM guess and then repair (verify-and-fix). </a:t>
            </a:r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MILP solver generate a layout that is guaranteed correct by construction (generate-and-guarantee). </a:t>
            </a:r>
            <a:pPr indent="0" marL="0">
              <a:buNone/>
            </a:pPr>
            <a:r>
              <a:rPr lang="en-US" sz="13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stays the independent judge.</a:t>
            </a:r>
            <a:endParaRPr lang="en-US" sz="1350" dirty="0"/>
          </a:p>
        </p:txBody>
      </p:sp>
      <p:pic>
        <p:nvPicPr>
          <p:cNvPr id="9" name="Image 0" descr="/Users/ojas/ps1-house-layout/output/slides/milp_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691640"/>
            <a:ext cx="5120640" cy="4572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Problem 2 · Ojas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 — two automated phases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generator proposes geometry · Z3 is the deterministic judge · an LLM explains failures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EXTERIOR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Optimize → provable max-area target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draws the outline; parser extracts coords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verifies 9 SBC rules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explains failures → loop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verified footprint + door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06440" y="3383280"/>
            <a:ext cx="5486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46520" y="187452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F0FDFA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INTERIOR (MILP)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242316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+ CBC solve the 8-room layout (cutting planes)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valid by construction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verifies 25 + 4 interior rules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verify-and-fix optional (MILP = fallback)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4343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complete floor plan + layered .dxf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11155680" cy="1051560"/>
          </a:xfrm>
          <a:prstGeom prst="roundRect">
            <a:avLst>
              <a:gd name="adj" fmla="val 8696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neuro-symbolic principle both phases: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generator proposes · Z3 proves · an LLM explains.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Problem 2 · Ojas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exterior in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Optimize turns 'maximize area' into a hard, verifiable constraint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31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56816"/>
            <a:ext cx="5157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6,420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49808" y="2596896"/>
            <a:ext cx="5157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AREA (sq ft, L-shaped)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4864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828800"/>
            <a:ext cx="731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956816"/>
            <a:ext cx="5157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4,060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64808" y="2596896"/>
            <a:ext cx="5157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Z3-PROVABLE MAX HOUSE (70 × 58 ft)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4864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383280"/>
            <a:ext cx="73152" cy="1371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511296"/>
            <a:ext cx="5157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3,654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49808" y="4151376"/>
            <a:ext cx="5157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FOOTPRINT — 90% of max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383280"/>
            <a:ext cx="54864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3383280"/>
            <a:ext cx="73152" cy="1371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3511296"/>
            <a:ext cx="5157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64808" y="4151376"/>
            <a:ext cx="5157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TO SAT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1556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20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declares the 4 corners as symbolic reals, adds the setbacks, and maximizes the footprint.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then demands ≥ 90% of that max — so the generator must push to the legal limit.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Problem 2 · Ojas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idea: generate-and-guarantee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cutting-plane MILP places the rooms; the LLM no longer has to get geometry right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EF2F2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91440" cy="4297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VERIFY-AND-FIX (baseline)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guesses a layout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checks, sends back failures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tries again … (multiple rounds)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non-deterministic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0FDFA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783080"/>
            <a:ext cx="91440" cy="42976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GENERATE-AND-GUARANTEE (ours)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solves the layout as a MILP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planes remove infeasible layouts until only valid ones remain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on the first solve — no LLM loop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output is reproducible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independently confirms the result.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Problem 2 · Ojas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3-band structure makes the rules structural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the spatial rules in the topology so the optimum is always code-valid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040880" y="1783080"/>
            <a:ext cx="914400" cy="1554480"/>
          </a:xfrm>
          <a:prstGeom prst="rect">
            <a:avLst/>
          </a:prstGeom>
          <a:solidFill>
            <a:srgbClr val="E3ECF7"/>
          </a:solidFill>
          <a:ln w="1651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0" y="23957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 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955280" y="1783080"/>
            <a:ext cx="914400" cy="1554480"/>
          </a:xfrm>
          <a:prstGeom prst="rect">
            <a:avLst/>
          </a:prstGeom>
          <a:solidFill>
            <a:srgbClr val="E5F0E0"/>
          </a:solidFill>
          <a:ln w="1651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0" y="23957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869680" y="1783080"/>
            <a:ext cx="914400" cy="1554480"/>
          </a:xfrm>
          <a:prstGeom prst="rect">
            <a:avLst/>
          </a:prstGeom>
          <a:solidFill>
            <a:srgbClr val="E5F0E0"/>
          </a:solidFill>
          <a:ln w="1651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0" y="23957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784080" y="1783080"/>
            <a:ext cx="914400" cy="1554480"/>
          </a:xfrm>
          <a:prstGeom prst="rect">
            <a:avLst/>
          </a:prstGeom>
          <a:solidFill>
            <a:srgbClr val="E5F0E0"/>
          </a:solidFill>
          <a:ln w="1651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0" y="23957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698480" y="1783080"/>
            <a:ext cx="914400" cy="1554480"/>
          </a:xfrm>
          <a:prstGeom prst="rect">
            <a:avLst/>
          </a:prstGeom>
          <a:solidFill>
            <a:srgbClr val="E3ECF7"/>
          </a:solidFill>
          <a:ln w="1651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0" y="23957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 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040880" y="1490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PRIVATE band (15 ft)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40880" y="3337560"/>
            <a:ext cx="4572000" cy="640080"/>
          </a:xfrm>
          <a:prstGeom prst="rect">
            <a:avLst/>
          </a:prstGeom>
          <a:solidFill>
            <a:srgbClr val="E5E7E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Corridor (4 ft)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3977640"/>
            <a:ext cx="2743200" cy="1554480"/>
          </a:xfrm>
          <a:prstGeom prst="rect">
            <a:avLst/>
          </a:prstGeom>
          <a:solidFill>
            <a:srgbClr val="DCEEF7"/>
          </a:solidFill>
          <a:ln w="1651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590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A82"/>
                </a:solidFill>
              </a:rPr>
              <a:t>Living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784080" y="3977640"/>
            <a:ext cx="1828800" cy="1554480"/>
          </a:xfrm>
          <a:prstGeom prst="rect">
            <a:avLst/>
          </a:prstGeom>
          <a:solidFill>
            <a:srgbClr val="FBE3D6"/>
          </a:solidFill>
          <a:ln w="16510">
            <a:solidFill>
              <a:srgbClr val="C241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0" y="45902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</a:rPr>
              <a:t>Kitchen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75320" y="5477256"/>
            <a:ext cx="4572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55686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65A82"/>
                </a:solidFill>
              </a:rPr>
              <a:t>door → living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8640" y="182880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between public &amp; private  → 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bath can ever touch the kitchen (sanitation)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bath flanks only its own bedroom  → 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ensuite by construction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 3 sits between the two pairs  → 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baths are never adjacent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band heights keep every area linear  → 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stays in the fast linear fragment; ~100% tiling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Problem 2 · Ojas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MILP model (PuLP + CBC)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Big-M disjunctive non-overlap → a true branch-and-cut MILP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155680" cy="3291840"/>
        </p:xfrm>
        <a:graphic>
          <a:graphicData uri="http://schemas.openxmlformats.org/drawingml/2006/table">
            <a:tbl>
              <a:tblPr/>
              <a:tblGrid>
                <a:gridCol w="2743200"/>
                <a:gridCol w="8412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widths / band cut positions (continuous) · per-pair non-overlap selectors (binary)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Non-overlap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Big-M disjunction per pair: at least one of {i left / right / below / above j}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Containment + tiling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room inside the footprint; bands span full width &amp; height → ~100% 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 / egress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Living spans the door, inset ≥ 2 ft, on the south wall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Ensuite / sanitation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ordering: Bath_i flanks only Bed_i; corridor isolates baths from the kitchen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Maximise the smallest bedroom width (balanced bedrooms); keep the kitchen generous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406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runs branch-and-cut, adding Gomory / clique / cover cutting planes to tighten the relaxation. </a:t>
            </a:r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cutting-plane algorithm doing the work.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Problem 2 · Ojas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Z3 verifies 25 + 4 interior constraints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independent judge — IRC room sizing plus architectural spatial rules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651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269748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299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Room areas (7)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living/kitchen/bed ≥ 70 · bath ≥ 25 sq ft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55848" y="18288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651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55848" y="1828800"/>
            <a:ext cx="269748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20299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Min dimension (6)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93008" y="26060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habitable ≥ 7 ft · bath ≥ 5 ft side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3056" y="18288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651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63056" y="1828800"/>
            <a:ext cx="269748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20299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Max dimension (2)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0216" y="26060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 ≤ 15 ft / side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70264" y="18288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651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70264" y="1828800"/>
            <a:ext cx="269748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07424" y="202996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Bath &lt; bedroom (2)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07424" y="26060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ensuite smaller than its bedroom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6510">
            <a:solidFill>
              <a:srgbClr val="0E74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749040"/>
            <a:ext cx="2697480" cy="91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95020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Sanitation (3)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5262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baths not adj. kitchen, not adj. each other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55848" y="37490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6510">
            <a:solidFill>
              <a:srgbClr val="0E74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55848" y="3749040"/>
            <a:ext cx="2697480" cy="91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395020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Ensuite (2)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93008" y="45262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bath shares a wall with its bedroom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63056" y="37490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6510">
            <a:solidFill>
              <a:srgbClr val="0E74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63056" y="3749040"/>
            <a:ext cx="2697480" cy="91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0216" y="395020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· Spatial / coverage (3)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00216" y="45262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on south · inside · within ±5%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970264" y="37490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6510">
            <a:solidFill>
              <a:srgbClr val="2C5F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70264" y="3749040"/>
            <a:ext cx="2697480" cy="914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07424" y="395020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· Ours, extra (4)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07424" y="45262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door→living · kitchen↔living · connectivity · count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rules go through Z3 (measured &lt; required); geometry (overlap, connectivity) is computed directly. Empty violation list = SAT.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Problem 2 · Ojas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— MILP interior, Z3-verified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rooms · 100% coverage · 0 violations · CBC Optimal</a:t>
            </a:r>
            <a:endParaRPr lang="en-US" sz="1500" dirty="0"/>
          </a:p>
        </p:txBody>
      </p:sp>
      <p:pic>
        <p:nvPicPr>
          <p:cNvPr id="4" name="Image 0" descr="/Users/ojas/ps1-house-layout/output/slides/milp_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45920"/>
            <a:ext cx="4937760" cy="466344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783080"/>
          <a:ext cx="5943600" cy="411480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W×H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 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37×39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Kitchen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26×39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Corridor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63×4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Bath 1 → Bed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6×15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Bedroom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17×15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Bedroom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17×15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Bedroom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17×15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Bath 2 → Bed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6×15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63×58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760720" y="5943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square foot is assigned; the corridor is the circulation.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Problem 2 · Ojas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novel vs the verify-and-fix baseline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the part the reference only proposed — and matched its full checker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155680" cy="3291840"/>
        </p:xfrm>
        <a:graphic>
          <a:graphicData uri="http://schemas.openxmlformats.org/drawingml/2006/table">
            <a:tbl>
              <a:tblPr/>
              <a:tblGrid>
                <a:gridCol w="3108960"/>
                <a:gridCol w="4023360"/>
                <a:gridCol w="4023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Verify-and-fix baseline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(MILP + Z3)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placement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guesses, Z3 checks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CBC solves, Z3 confirms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 satisfaction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1+ feedback rounds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guaranteed on first solve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output varies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 output reproducible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Cutting-plane MILP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 as future work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(PuLP + CBC)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Interior constraints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rules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rules + 4 extras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155680" cy="868680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440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proposed cutting-plane MILP as a future direction; ours runs it today, with Z3 confirming all 29 constraints.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Problem 2 · Ojas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7432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83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Generate-and-guarantee beats verify-and-fix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cutting-plane MILP returns a valid layout on the first solve — no LLM iteration, fully reproducible.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8620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Z3 stays the judge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31927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SMT solver independently confirms 25 IRC/spatial rules + 4 extras; same neuro-symbolic principle as the exterior.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94106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Topology encodes the hard rules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4398264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corridor + ensuite band structure makes sanitation, ensuite and non-adjacency true by construction.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02005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the proposed future work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5477256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listed cutting-plane MILP as future work; ours implements it end-to-end (PuLP + CBC).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/Users/ojas/ps1-house-layout/   ·   Ojas   ·   Problem 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2 — MILP-Verified CAD Floor Plans</dc:title>
  <dc:subject>PptxGenJS Presentation</dc:subject>
  <dc:creator>Ojas Marathe</dc:creator>
  <cp:lastModifiedBy>Ojas Marathe</cp:lastModifiedBy>
  <cp:revision>1</cp:revision>
  <dcterms:created xsi:type="dcterms:W3CDTF">2026-06-07T15:25:31Z</dcterms:created>
  <dcterms:modified xsi:type="dcterms:W3CDTF">2026-06-07T15:25:31Z</dcterms:modified>
</cp:coreProperties>
</file>